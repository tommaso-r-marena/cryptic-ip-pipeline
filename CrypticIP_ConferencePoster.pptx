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2860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82880"/>
            <a:ext cx="1554480" cy="192024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46304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45720"/>
            <a:ext cx="2880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Detection of Cryptic Inositol</a:t>
            </a:r>
            <a:endParaRPr lang="en-US" sz="2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Polyphosphate Binding Sites in Protein Structures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2103120" y="1280160"/>
            <a:ext cx="2880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Tommaso Marena, Department of Chemistry, The Catholic University of America, Washington DC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120" y="1664208"/>
            <a:ext cx="2880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marena@cua.edu  |  Advisor: Dr. Gregory Miller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2249424"/>
            <a:ext cx="32918400" cy="36576"/>
          </a:xfrm>
          <a:prstGeom prst="rect">
            <a:avLst/>
          </a:prstGeom>
          <a:solidFill>
            <a:srgbClr val="C4A535"/>
          </a:solidFill>
          <a:ln/>
        </p:spPr>
      </p:sp>
      <p:sp>
        <p:nvSpPr>
          <p:cNvPr id="9" name="Shape 6"/>
          <p:cNvSpPr/>
          <p:nvPr/>
        </p:nvSpPr>
        <p:spPr>
          <a:xfrm>
            <a:off x="320040" y="2423160"/>
            <a:ext cx="8961120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423160"/>
            <a:ext cx="896112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" y="2423160"/>
            <a:ext cx="8741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898648"/>
            <a:ext cx="8686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Inositol polyphosphates (IPs)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are essential signaling molecules in RNA editing (ADAR2), chromatin remodeling (HDAC3), and chromosome cohesion (Pds5B). While canonical PH domains are well-characterized, </a:t>
            </a:r>
            <a:pPr indent="0" marL="0">
              <a:lnSpc>
                <a:spcPct val="108000"/>
              </a:lnSpc>
              <a:buNone/>
            </a:pPr>
            <a:r>
              <a:rPr lang="en-US" sz="11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cryptic IP binding sites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buried within enzyme cores are structurally distinct and computationally uncharacterized.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ADAR2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requires IP6 as a structural cofactor — loss eliminates catalytic activity (Macbeth et al., Science 2005). 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exists to detect these sites.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5221224"/>
            <a:ext cx="8961120" cy="320040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5221224"/>
            <a:ext cx="896112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" y="5221224"/>
            <a:ext cx="8741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COMPUTATIONAL PIPELINE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" y="5696712"/>
            <a:ext cx="8814816" cy="2651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0040" y="8567928"/>
            <a:ext cx="896112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8567928"/>
            <a:ext cx="896112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5"/>
          <p:cNvSpPr/>
          <p:nvPr/>
        </p:nvSpPr>
        <p:spPr>
          <a:xfrm>
            <a:off x="429768" y="8567928"/>
            <a:ext cx="8741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AIMS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7200" y="9043416"/>
            <a:ext cx="86868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multi-feature pipeline integrating fpocket, APBS, B-factor, and sidechain analysis for cryptic IP site detection.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known IP-binding proteins (ADAR2, HDAC1/3, Pds5B) and PH domain negative controls.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AlphaFold vs crystal structures for IP site detection.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via ROC, bootstrap, and permutation testing.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11640312"/>
            <a:ext cx="8961120" cy="9985248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0040" y="11640312"/>
            <a:ext cx="896112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3" name="Text 19"/>
          <p:cNvSpPr/>
          <p:nvPr/>
        </p:nvSpPr>
        <p:spPr>
          <a:xfrm>
            <a:off x="429768" y="11640312"/>
            <a:ext cx="8741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12115800"/>
            <a:ext cx="8686800" cy="945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Preparation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structures from RCSB PDB: ADAR2 (1ZY7), HDAC1 (5ICN), HDAC3:SMRT (4A69), Pds5B (5HDT), PLCδ1 (1MAI), Btk (1BTK), DAPP1 (1FAO), Grp1 (1FGY). AlphaFold model AF-P78563-F1 for ADAR2.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Detection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fpocket v3.1 (α-sphere clustering, Voronoi tessellation). Pockets ranked by druggability score. Top pocket selected per structure.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 Analysis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PDB2PQR v3.7 protonation at pH 7.0 (PARSE force field). APBS v3.4 Poisson-Boltzmann solver. Mean potential sampled at fpocket grid points.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B-factor z-scores (pocket vs global mean). Kyte-Doolittle hydropathy at pocket center. H-bond sidechain donor/acceptor counting via BioPython within 8 Å of pocket centroid. FreeSASA solvent accessibility.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Comparison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Cα RMSD between crystal and AlphaFold structures at binding site residues. Global vs local alignment to assess conformational differences.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sum: depth (0.30), APBS (0.25), basic residues (0.20), volume (0.15), SASA (0.10). Features normalized 0–1 across the validation set.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ROC/AUC analysis (n=5 positive, n=4 negative). Bootstrap resampling (10,000 iterations) for 95% confidence intervals. Permutation tests (10,000 permutations). Weight sensitivity: 100,000 random weight combinations.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Reproducibility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3.12. Dependencies: fpocket 3.1, PDB2PQR 3.7, APBS 3.4, BioPython, FreeSASA, matplotlib, NumPy, SciPy. 62 unit tests (all passing). Full source code available at github.com/Tommaso-R-Marena/cryptic-ip-pipeline.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controls (5): ADAR2 crystal (1ZY7, IP6), ADAR2 AlphaFold (AF-P78563), HDAC1 (5ICN, IP4), HDAC3:SMRT (4A69, IP4), Pds5B (5HDT, IP6). Negative controls (4): PLCδ1 PH (1MAI), Btk PH (1BTK), DAPP1 PH (1FAO), Grp1 PH (1FGY).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ADAR2 Binding Motif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basic + 1 aromatic residue (“5B-1A”): K376, K519, R522, K651, K672 (basic), W687 (aromatic π-cation). Pocket volume: 977 Å3, depth: 16.9 Å, APBS: +74.6 kT/e, 14 sidechain H-bond donors, 6 acceptors (D:A = 2.67).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482328" y="2423160"/>
            <a:ext cx="13898880" cy="594360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482328" y="2423160"/>
            <a:ext cx="1389888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Text 23"/>
          <p:cNvSpPr/>
          <p:nvPr/>
        </p:nvSpPr>
        <p:spPr>
          <a:xfrm>
            <a:off x="9592056" y="2423160"/>
            <a:ext cx="1367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1: VALIDATION SET — COMPOSITE SCORING</a:t>
            </a:r>
            <a:endParaRPr lang="en-US" sz="14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73768" y="2898648"/>
            <a:ext cx="6784848" cy="5321808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504920" y="2898648"/>
            <a:ext cx="6784848" cy="532180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482328" y="8513064"/>
            <a:ext cx="13898880" cy="557784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482328" y="8513064"/>
            <a:ext cx="1389888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2" name="Text 26"/>
          <p:cNvSpPr/>
          <p:nvPr/>
        </p:nvSpPr>
        <p:spPr>
          <a:xfrm>
            <a:off x="9592056" y="8513064"/>
            <a:ext cx="1367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POCKET DEPTH — BEST DISCRIMINATOR (AUC=0.90)</a:t>
            </a:r>
            <a:endParaRPr lang="en-US" sz="14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73768" y="8988552"/>
            <a:ext cx="6784848" cy="4956048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504920" y="8988552"/>
            <a:ext cx="6784848" cy="495604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9482328" y="14237208"/>
            <a:ext cx="13898880" cy="7388352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482328" y="14237208"/>
            <a:ext cx="13898880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7" name="Text 29"/>
          <p:cNvSpPr/>
          <p:nvPr/>
        </p:nvSpPr>
        <p:spPr>
          <a:xfrm>
            <a:off x="9592056" y="14237208"/>
            <a:ext cx="1367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3: FLEXIBILITY, ELECTROSTATICS &amp; STATISTICS</a:t>
            </a:r>
            <a:endParaRPr lang="en-US" sz="14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573768" y="14712696"/>
            <a:ext cx="6784848" cy="3337560"/>
          </a:xfrm>
          <a:prstGeom prst="rect">
            <a:avLst/>
          </a:prstGeom>
        </p:spPr>
      </p:pic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504920" y="14712696"/>
            <a:ext cx="6784848" cy="3337560"/>
          </a:xfrm>
          <a:prstGeom prst="rect">
            <a:avLst/>
          </a:prstGeom>
        </p:spPr>
      </p:pic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573768" y="18123408"/>
            <a:ext cx="6784848" cy="3337560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504920" y="18123408"/>
            <a:ext cx="6784848" cy="333756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3582376" y="2423160"/>
            <a:ext cx="9015984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23582376" y="2423160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4" name="Text 32"/>
          <p:cNvSpPr/>
          <p:nvPr/>
        </p:nvSpPr>
        <p:spPr>
          <a:xfrm>
            <a:off x="23692104" y="2423160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45" name="Text 33"/>
          <p:cNvSpPr/>
          <p:nvPr/>
        </p:nvSpPr>
        <p:spPr>
          <a:xfrm>
            <a:off x="23719536" y="2898648"/>
            <a:ext cx="8741664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Depth as Primary Discriminator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depth achieved AUC 0.900. Cryptic IP sites (mean 20.7 Å) are significantly deeper than PH domain pockets (10.5 Å). Bootstrap 95% CI [1.9, 23.6 Å] excludes zero.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B-factor Confirms IP6 Rigidification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structures show negative z-scores (−0.20 to −0.68). AlphaFold ADAR2 (no IP6): z = +0.83 — flexibility without ligand.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ADAR2 Electrostatic Complementarity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ADAR2: +74.6 kT/e, 7 basic residues, D:A ratio 2.67. Other cryptic sites show neutral/negative APBS.
</a:t>
            </a:r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Limitations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 14.56 Å at binding residues. AF2 cannot recapitulate pre-organized geometry without ligand.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>
            <a:off x="23582376" y="6684264"/>
            <a:ext cx="9015984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23582376" y="6684264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8" name="Text 36"/>
          <p:cNvSpPr/>
          <p:nvPr/>
        </p:nvSpPr>
        <p:spPr>
          <a:xfrm>
            <a:off x="23692104" y="6684264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&amp; HYDROPATHY ANALYSIS</a:t>
            </a:r>
            <a:endParaRPr lang="en-US" sz="14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3637240" y="7141464"/>
            <a:ext cx="8906256" cy="2414016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23582376" y="9756648"/>
            <a:ext cx="9015984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23582376" y="9756648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2" name="Text 39"/>
          <p:cNvSpPr/>
          <p:nvPr/>
        </p:nvSpPr>
        <p:spPr>
          <a:xfrm>
            <a:off x="23692104" y="9756648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CRITERIA (5/7 PASS)</a:t>
            </a:r>
            <a:endParaRPr lang="en-US" sz="14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3637240" y="10213848"/>
            <a:ext cx="8906256" cy="2139696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23582376" y="12554712"/>
            <a:ext cx="9015984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23582376" y="12554712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6" name="Text 42"/>
          <p:cNvSpPr/>
          <p:nvPr/>
        </p:nvSpPr>
        <p:spPr>
          <a:xfrm>
            <a:off x="23692104" y="12554712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57" name="Text 43"/>
          <p:cNvSpPr/>
          <p:nvPr/>
        </p:nvSpPr>
        <p:spPr>
          <a:xfrm>
            <a:off x="23719536" y="13030200"/>
            <a:ext cx="874166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Pocket depth is the best discriminator (AUC=0.90), outperforming volume, APBS, and composite scoring.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identifies known IP sites (5/7 PASS). Failures due to small sample (n=9).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B-factor reveals IP6 rigidifies pockets — a novel structural signature.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AlphaFold limited for IP sites (RMSD 14.56 Å) — experimental structures needed.
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Composite scoring needs refinement (p=0.981).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23582376" y="15261336"/>
            <a:ext cx="9015984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59" name="Shape 45"/>
          <p:cNvSpPr/>
          <p:nvPr/>
        </p:nvSpPr>
        <p:spPr>
          <a:xfrm>
            <a:off x="23582376" y="15261336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0" name="Text 46"/>
          <p:cNvSpPr/>
          <p:nvPr/>
        </p:nvSpPr>
        <p:spPr>
          <a:xfrm>
            <a:off x="23692104" y="15261336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400" dirty="0"/>
          </a:p>
        </p:txBody>
      </p:sp>
      <p:sp>
        <p:nvSpPr>
          <p:cNvPr id="61" name="Text 47"/>
          <p:cNvSpPr/>
          <p:nvPr/>
        </p:nvSpPr>
        <p:spPr>
          <a:xfrm>
            <a:off x="23719536" y="15736824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Gregory Miller</a:t>
            </a:r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Dept. of Chemistry, CUA. Computational resources: CUA Chemistry. Data: RCSB PDB, AlphaFold DB.</a:t>
            </a:r>
            <a:endParaRPr lang="en-US" sz="1100" dirty="0"/>
          </a:p>
        </p:txBody>
      </p:sp>
      <p:sp>
        <p:nvSpPr>
          <p:cNvPr id="62" name="Shape 48"/>
          <p:cNvSpPr/>
          <p:nvPr/>
        </p:nvSpPr>
        <p:spPr>
          <a:xfrm>
            <a:off x="23582376" y="16230600"/>
            <a:ext cx="9015984" cy="5394960"/>
          </a:xfrm>
          <a:prstGeom prst="rect">
            <a:avLst/>
          </a:prstGeom>
          <a:solidFill>
            <a:srgbClr val="FFFFFF"/>
          </a:solidFill>
          <a:ln w="8890">
            <a:solidFill>
              <a:srgbClr val="A0A0A0"/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23582376" y="16230600"/>
            <a:ext cx="9015984" cy="42062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4" name="Text 50"/>
          <p:cNvSpPr/>
          <p:nvPr/>
        </p:nvSpPr>
        <p:spPr>
          <a:xfrm>
            <a:off x="23692104" y="16230600"/>
            <a:ext cx="879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CITED</a:t>
            </a:r>
            <a:endParaRPr lang="en-US" sz="1400" dirty="0"/>
          </a:p>
        </p:txBody>
      </p:sp>
      <p:sp>
        <p:nvSpPr>
          <p:cNvPr id="65" name="Text 51"/>
          <p:cNvSpPr/>
          <p:nvPr/>
        </p:nvSpPr>
        <p:spPr>
          <a:xfrm>
            <a:off x="23719536" y="16706088"/>
            <a:ext cx="8741664" cy="486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Guilloux V,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fpocket: open source ligand pocket detection. BMC Bioinformatics 2009;10:168.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Baker NA,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Electrostatics of nanosystems. PNAS 2001;98(18):10037-41.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Macbeth MR,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IP6 bound in ADAR2 core, required for RNA editing. Science 2005;309:1534-9.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Jumper J,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Highly accurate protein structure prediction with AlphaFold. Nature 2021;596:583-9.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Mitternacht S.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FreeSASA: open source SASA calculations. F1000Research 2016;5:189.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Watson PJ,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HDAC3 bound to co-repressor and inositol tetraphosphate. Nature 2012;481:335-40.
</a:t>
            </a:r>
            <a:pPr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Watson PJ, et al.</a:t>
            </a:r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Class I HDAC activation by inositol phosphates. Nat Commun 2016;7:11262.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2026-04-08T05:25:34Z</dcterms:created>
  <dcterms:modified xsi:type="dcterms:W3CDTF">2026-04-08T05:25:34Z</dcterms:modified>
</cp:coreProperties>
</file>